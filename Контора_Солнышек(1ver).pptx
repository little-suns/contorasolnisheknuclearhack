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Fira Mono" panose="020B0509050000020004" pitchFamily="49" charset="0"/>
      <p:regular r:id="rId19"/>
      <p:bold r:id="rId20"/>
    </p:embeddedFont>
    <p:embeddedFont>
      <p:font typeface="Patrick Hand" panose="020B0604020202020204" charset="0"/>
      <p:regular r:id="rId21"/>
    </p:embeddedFont>
  </p:embeddedFontLst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5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>
              <a:alpha val="85000"/>
            </a:srgb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4" name="Text 1"/>
          <p:cNvSpPr/>
          <p:nvPr/>
        </p:nvSpPr>
        <p:spPr>
          <a:xfrm>
            <a:off x="966073" y="2900482"/>
            <a:ext cx="12665035" cy="69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Автоматизация учебного процесса в T-FLEX DOCs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966073" y="4004548"/>
            <a:ext cx="12698254" cy="132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Комплексное решение для преподавателей и администраторов вузов: автоматизация создания учётных записей, распределения заданий и интеграции с CAD-системами — всё это силами двух макросов.</a:t>
            </a:r>
            <a:endParaRPr lang="en-US" sz="2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oup 6" descr="preencoded.png">
            <a:extLst>
              <a:ext uri="{FF2B5EF4-FFF2-40B4-BE49-F238E27FC236}">
                <a16:creationId xmlns:a16="http://schemas.microsoft.com/office/drawing/2014/main" id="{E5BFDEF6-62AA-A095-A7E4-C4873119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19851" y="2790484"/>
            <a:ext cx="2375807" cy="2323011"/>
          </a:xfrm>
          <a:prstGeom prst="rect">
            <a:avLst/>
          </a:prstGeom>
        </p:spPr>
      </p:pic>
      <p:pic>
        <p:nvPicPr>
          <p:cNvPr id="6" name="Group 4" descr="preencoded.png">
            <a:extLst>
              <a:ext uri="{FF2B5EF4-FFF2-40B4-BE49-F238E27FC236}">
                <a16:creationId xmlns:a16="http://schemas.microsoft.com/office/drawing/2014/main" id="{C542CF5B-552A-B4B0-CD80-C0D1D2E97B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6932" y="2872209"/>
            <a:ext cx="2375807" cy="2323011"/>
          </a:xfrm>
          <a:prstGeom prst="rect">
            <a:avLst/>
          </a:prstGeom>
        </p:spPr>
      </p:pic>
      <p:pic>
        <p:nvPicPr>
          <p:cNvPr id="7" name="Group 5" descr="preencoded.png">
            <a:extLst>
              <a:ext uri="{FF2B5EF4-FFF2-40B4-BE49-F238E27FC236}">
                <a16:creationId xmlns:a16="http://schemas.microsoft.com/office/drawing/2014/main" id="{EEDC2F77-EA2B-A8A1-FEB5-01CF5C2469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84585" y="2917929"/>
            <a:ext cx="2375807" cy="2323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968C26-6FFD-3B5C-BEBD-9BBE620EBFE4}"/>
              </a:ext>
            </a:extLst>
          </p:cNvPr>
          <p:cNvSpPr txBox="1"/>
          <p:nvPr/>
        </p:nvSpPr>
        <p:spPr>
          <a:xfrm>
            <a:off x="9544901" y="5747786"/>
            <a:ext cx="1765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Fira Mono" panose="020B0609050000020004" pitchFamily="49" charset="0"/>
                <a:ea typeface="Fira Mono" panose="020B0609050000020004" pitchFamily="49" charset="0"/>
              </a:rPr>
              <a:t>КМС по </a:t>
            </a:r>
            <a:r>
              <a:rPr lang="ru-RU" sz="1200" dirty="0" err="1">
                <a:latin typeface="Fira Mono" panose="020B0609050000020004" pitchFamily="49" charset="0"/>
                <a:ea typeface="Fira Mono" panose="020B0609050000020004" pitchFamily="49" charset="0"/>
              </a:rPr>
              <a:t>поверпоинт</a:t>
            </a:r>
            <a:endParaRPr lang="en-RU" sz="1200" dirty="0">
              <a:latin typeface="Patrick Hand" pitchFamily="2" charset="77"/>
              <a:ea typeface="Fira Mono" panose="020B060905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B438F-0E25-7AFD-529B-726530CF1D8E}"/>
              </a:ext>
            </a:extLst>
          </p:cNvPr>
          <p:cNvSpPr txBox="1"/>
          <p:nvPr/>
        </p:nvSpPr>
        <p:spPr>
          <a:xfrm>
            <a:off x="6666522" y="5841636"/>
            <a:ext cx="1260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Fira Mono" panose="020B0509050000020004" pitchFamily="49" charset="0"/>
                <a:ea typeface="Fira Mono" panose="020B0509050000020004" pitchFamily="49" charset="0"/>
              </a:rPr>
              <a:t>Тимлид</a:t>
            </a:r>
            <a:r>
              <a:rPr lang="en-US" sz="1200" dirty="0">
                <a:latin typeface="Patrick Hand" pitchFamily="2" charset="77"/>
                <a:ea typeface="Fira Mono" panose="020B0509050000020004" pitchFamily="49" charset="0"/>
              </a:rPr>
              <a:t>, Backend</a:t>
            </a:r>
            <a:endParaRPr lang="en-RU" sz="1200" dirty="0">
              <a:latin typeface="Patrick Hand" pitchFamily="2" charset="77"/>
              <a:ea typeface="Fira Mono" panose="020B050905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83D71-B6ED-76F5-2EF0-CFD56B94B224}"/>
              </a:ext>
            </a:extLst>
          </p:cNvPr>
          <p:cNvSpPr txBox="1"/>
          <p:nvPr/>
        </p:nvSpPr>
        <p:spPr>
          <a:xfrm>
            <a:off x="2641995" y="5771587"/>
            <a:ext cx="2453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Fira Mono" panose="020B0509050000020004" pitchFamily="49" charset="0"/>
                <a:ea typeface="Fira Mono" panose="020B0509050000020004" pitchFamily="49" charset="0"/>
              </a:rPr>
              <a:t>Сеньор </a:t>
            </a:r>
            <a:r>
              <a:rPr lang="en-US" sz="1200" dirty="0">
                <a:latin typeface="Patrick Hand" pitchFamily="2" charset="77"/>
                <a:ea typeface="Fira Mono" panose="020B0509050000020004" pitchFamily="49" charset="0"/>
              </a:rPr>
              <a:t>Vibe-Code </a:t>
            </a:r>
            <a:r>
              <a:rPr lang="ru-RU" sz="1200" dirty="0">
                <a:latin typeface="Fira Mono" panose="020B0509050000020004" pitchFamily="49" charset="0"/>
                <a:ea typeface="Fira Mono" panose="020B0509050000020004" pitchFamily="49" charset="0"/>
              </a:rPr>
              <a:t>разработчик </a:t>
            </a:r>
            <a:endParaRPr lang="en-RU" sz="1200" dirty="0">
              <a:latin typeface="Patrick Hand" pitchFamily="2" charset="77"/>
              <a:ea typeface="Fira Mono" panose="020B0509050000020004" pitchFamily="49" charset="0"/>
            </a:endParaRPr>
          </a:p>
        </p:txBody>
      </p:sp>
      <p:pic>
        <p:nvPicPr>
          <p:cNvPr id="11" name="Picture 10" descr="A person with glasses and a dog&#10;&#10;AI-generated content may be incorrect.">
            <a:extLst>
              <a:ext uri="{FF2B5EF4-FFF2-40B4-BE49-F238E27FC236}">
                <a16:creationId xmlns:a16="http://schemas.microsoft.com/office/drawing/2014/main" id="{2255E210-6715-3ED1-0C0F-8057700E0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6932" y="2843168"/>
            <a:ext cx="2375806" cy="2375806"/>
          </a:xfrm>
          <a:prstGeom prst="rect">
            <a:avLst/>
          </a:prstGeom>
        </p:spPr>
      </p:pic>
      <p:pic>
        <p:nvPicPr>
          <p:cNvPr id="12" name="Picture 11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5DB844F6-E5BB-BA2D-DFA4-CF84003E8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4639" y="2881923"/>
            <a:ext cx="2465753" cy="24657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EDA4AE-222A-CF2D-4111-8F43453BA2A3}"/>
              </a:ext>
            </a:extLst>
          </p:cNvPr>
          <p:cNvSpPr txBox="1"/>
          <p:nvPr/>
        </p:nvSpPr>
        <p:spPr>
          <a:xfrm>
            <a:off x="2945241" y="5277627"/>
            <a:ext cx="1847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Доценко Антон</a:t>
            </a:r>
            <a:endParaRPr lang="en-RU" sz="2000" dirty="0">
              <a:latin typeface="Patrick Hand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4613B8-549E-49F6-A879-5B96D1E505A7}"/>
              </a:ext>
            </a:extLst>
          </p:cNvPr>
          <p:cNvSpPr txBox="1"/>
          <p:nvPr/>
        </p:nvSpPr>
        <p:spPr>
          <a:xfrm>
            <a:off x="6328247" y="5347676"/>
            <a:ext cx="193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Козлов Алексей</a:t>
            </a:r>
            <a:endParaRPr lang="en-RU" sz="2000" dirty="0">
              <a:latin typeface="Patrick Hand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7A684C-B6B9-47FC-03A8-0C99281A366B}"/>
              </a:ext>
            </a:extLst>
          </p:cNvPr>
          <p:cNvSpPr txBox="1"/>
          <p:nvPr/>
        </p:nvSpPr>
        <p:spPr>
          <a:xfrm>
            <a:off x="9284585" y="5347676"/>
            <a:ext cx="2375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Малофеев Дмитрий</a:t>
            </a:r>
            <a:endParaRPr lang="en-RU" sz="2000" dirty="0">
              <a:latin typeface="Patrick Hand" pitchFamily="2" charset="77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ABFCC956-313E-E366-E5CF-F72E2251DBBD}"/>
              </a:ext>
            </a:extLst>
          </p:cNvPr>
          <p:cNvSpPr/>
          <p:nvPr/>
        </p:nvSpPr>
        <p:spPr>
          <a:xfrm>
            <a:off x="382322" y="439389"/>
            <a:ext cx="130428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4000" dirty="0" err="1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Наша</a:t>
            </a:r>
            <a:r>
              <a:rPr lang="en-US" sz="4000" dirty="0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 </a:t>
            </a:r>
            <a:r>
              <a:rPr lang="ru-RU" sz="4000" dirty="0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к</a:t>
            </a:r>
            <a:r>
              <a:rPr lang="en-US" sz="4000" dirty="0" err="1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оманда</a:t>
            </a:r>
            <a:r>
              <a:rPr lang="en-US" sz="4000" dirty="0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: </a:t>
            </a:r>
            <a:r>
              <a:rPr lang="ru-RU" sz="4000" dirty="0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с</a:t>
            </a:r>
            <a:r>
              <a:rPr lang="en-US" sz="4000" dirty="0" err="1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пециалисты</a:t>
            </a:r>
            <a:r>
              <a:rPr lang="en-US" sz="4000" dirty="0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 </a:t>
            </a:r>
            <a:r>
              <a:rPr lang="en-US" sz="4000" dirty="0" err="1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по</a:t>
            </a:r>
            <a:r>
              <a:rPr lang="en-US" sz="4000" dirty="0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 </a:t>
            </a:r>
            <a:r>
              <a:rPr lang="ru-RU" sz="4000" dirty="0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а</a:t>
            </a:r>
            <a:r>
              <a:rPr lang="en-US" sz="4000" dirty="0" err="1">
                <a:latin typeface="Patrick Hand" pitchFamily="2" charset="77"/>
                <a:ea typeface="Fira Mono Medium" pitchFamily="34" charset="-122"/>
                <a:cs typeface="Fira Mono Medium" pitchFamily="34" charset="-120"/>
              </a:rPr>
              <a:t>втоматизации</a:t>
            </a:r>
            <a:endParaRPr lang="en-US" sz="4000" dirty="0">
              <a:latin typeface="Patrick Hand" pitchFamily="2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45CC33-BA38-01F6-9CC5-0C6289ED79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4993" y="7340600"/>
            <a:ext cx="24003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8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240" y="760452"/>
            <a:ext cx="4412575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Проблема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965240" y="1382435"/>
            <a:ext cx="3530084" cy="441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Текущая ситуация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965240" y="2088118"/>
            <a:ext cx="126999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Преподаватели тратят значительное время на рутинные операции в начале каждого семестра, которые не требуют профессиональных компетенций, но отнимают часы продуктивного рабочего времени.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5240" y="2921556"/>
            <a:ext cx="6261735" cy="1518761"/>
          </a:xfrm>
          <a:prstGeom prst="roundRect">
            <a:avLst>
              <a:gd name="adj" fmla="val 9633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Shape 4"/>
          <p:cNvSpPr/>
          <p:nvPr/>
        </p:nvSpPr>
        <p:spPr>
          <a:xfrm>
            <a:off x="934760" y="2921556"/>
            <a:ext cx="121920" cy="1518761"/>
          </a:xfrm>
          <a:prstGeom prst="roundRect">
            <a:avLst>
              <a:gd name="adj" fmla="val 76005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1307783" y="3172658"/>
            <a:ext cx="2722364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Учётные записи вручную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07783" y="3554135"/>
            <a:ext cx="56680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Ручное создание аккаунта для каждого студента с фиксацией данных в таблицах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03306" y="2921556"/>
            <a:ext cx="6261854" cy="1518761"/>
          </a:xfrm>
          <a:prstGeom prst="roundRect">
            <a:avLst>
              <a:gd name="adj" fmla="val 9633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7372826" y="2921556"/>
            <a:ext cx="121920" cy="1518761"/>
          </a:xfrm>
          <a:prstGeom prst="roundRect">
            <a:avLst>
              <a:gd name="adj" fmla="val 76005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7745849" y="3172658"/>
            <a:ext cx="2206228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Генерация паролей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45849" y="3554135"/>
            <a:ext cx="56682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Создание и запись паролей в Excel-файлы — трудоёмко и небезопасно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5240" y="4616648"/>
            <a:ext cx="6261735" cy="1518761"/>
          </a:xfrm>
          <a:prstGeom prst="roundRect">
            <a:avLst>
              <a:gd name="adj" fmla="val 9633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Shape 12"/>
          <p:cNvSpPr/>
          <p:nvPr/>
        </p:nvSpPr>
        <p:spPr>
          <a:xfrm>
            <a:off x="934760" y="4616648"/>
            <a:ext cx="121920" cy="1518761"/>
          </a:xfrm>
          <a:prstGeom prst="roundRect">
            <a:avLst>
              <a:gd name="adj" fmla="val 76005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1307783" y="4867751"/>
            <a:ext cx="2206228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Структура папок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07783" y="5249228"/>
            <a:ext cx="56680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Создание директорий вручную для каждого студента и каждой группы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403306" y="4616648"/>
            <a:ext cx="6261854" cy="1518761"/>
          </a:xfrm>
          <a:prstGeom prst="roundRect">
            <a:avLst>
              <a:gd name="adj" fmla="val 9633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Shape 16"/>
          <p:cNvSpPr/>
          <p:nvPr/>
        </p:nvSpPr>
        <p:spPr>
          <a:xfrm>
            <a:off x="7372826" y="4616648"/>
            <a:ext cx="121920" cy="1518761"/>
          </a:xfrm>
          <a:prstGeom prst="roundRect">
            <a:avLst>
              <a:gd name="adj" fmla="val 76005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9" name="Text 17"/>
          <p:cNvSpPr/>
          <p:nvPr/>
        </p:nvSpPr>
        <p:spPr>
          <a:xfrm>
            <a:off x="7745849" y="4867751"/>
            <a:ext cx="2860477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Распределение вариантов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45849" y="5249228"/>
            <a:ext cx="56682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Ручное назначение индивидуальных заданий с риском ошибок и совпадений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65240" y="6333768"/>
            <a:ext cx="12699921" cy="1135380"/>
          </a:xfrm>
          <a:prstGeom prst="roundRect">
            <a:avLst>
              <a:gd name="adj" fmla="val 816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RU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63" y="6652617"/>
            <a:ext cx="275749" cy="22062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82234" y="6565225"/>
            <a:ext cx="1176230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Итого: часы рутинной работы в начале каждого семестра</a:t>
            </a:r>
            <a:r>
              <a:rPr lang="en-US" sz="17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вместо подготовки к занятиям и методической деятельности.</a:t>
            </a:r>
            <a:endParaRPr lang="en-US" sz="1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9C22810-23DF-962F-D50C-CBF719A98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6665" y="7483772"/>
            <a:ext cx="2013735" cy="745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878086"/>
            <a:ext cx="5244822" cy="65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Решение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966073" y="1633180"/>
            <a:ext cx="8257699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Два макроса для полной автоматизации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66073" y="2531269"/>
            <a:ext cx="12698254" cy="81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Разработанные макросы для T-FLEX DOCs закрывают весь цикл подготовки учебного процесса — от импорта списков студентов до доставки индивидуальных заданий в папку каждого учащегося.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966073" y="3629620"/>
            <a:ext cx="12698254" cy="3721894"/>
          </a:xfrm>
          <a:prstGeom prst="roundRect">
            <a:avLst>
              <a:gd name="adj" fmla="val 295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Shape 4"/>
          <p:cNvSpPr/>
          <p:nvPr/>
        </p:nvSpPr>
        <p:spPr>
          <a:xfrm>
            <a:off x="981313" y="3644860"/>
            <a:ext cx="6333887" cy="3691414"/>
          </a:xfrm>
          <a:prstGeom prst="roundRect">
            <a:avLst>
              <a:gd name="adj" fmla="val 2984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1230392" y="3893939"/>
            <a:ext cx="4690348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Макрос 1: Создание учётных записей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230392" y="4371142"/>
            <a:ext cx="5461992" cy="271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Импорт списка студентов из Excel/CSV/XML</a:t>
            </a:r>
            <a:endParaRPr lang="en-US" sz="2050" dirty="0"/>
          </a:p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Автоматическое создание пользователей</a:t>
            </a:r>
            <a:endParaRPr lang="en-US" sz="2050" dirty="0"/>
          </a:p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Генерация безопасных паролей</a:t>
            </a:r>
            <a:endParaRPr lang="en-US" sz="2050" dirty="0"/>
          </a:p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Запись данных обратно в файл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315200" y="3644860"/>
            <a:ext cx="6333887" cy="369141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7315200" y="3644860"/>
            <a:ext cx="30480" cy="3691414"/>
          </a:xfrm>
          <a:prstGeom prst="roundRect">
            <a:avLst>
              <a:gd name="adj" fmla="val 361359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7938016" y="3893939"/>
            <a:ext cx="436721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Макрос 2: Распределение заданий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938016" y="4371142"/>
            <a:ext cx="5461992" cy="271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Интеллектуальное распределение вариантов</a:t>
            </a:r>
            <a:endParaRPr lang="en-US" sz="2050" dirty="0"/>
          </a:p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Минимизация совпадений между студентами</a:t>
            </a:r>
            <a:endParaRPr lang="en-US" sz="2050" dirty="0"/>
          </a:p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Автоматическое копирование файлов</a:t>
            </a:r>
            <a:endParaRPr lang="en-US" sz="2050" dirty="0"/>
          </a:p>
          <a:p>
            <a:pPr marL="342900" indent="-342900" algn="l">
              <a:lnSpc>
                <a:spcPts val="3200"/>
              </a:lnSpc>
              <a:buSzPct val="100000"/>
              <a:buChar char="•"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Экспорт CAD-документов в PDF/tiff</a:t>
            </a:r>
            <a:endParaRPr lang="en-US" sz="2050" dirty="0"/>
          </a:p>
        </p:txBody>
      </p:sp>
      <p:sp>
        <p:nvSpPr>
          <p:cNvPr id="13" name="Shape 11"/>
          <p:cNvSpPr/>
          <p:nvPr/>
        </p:nvSpPr>
        <p:spPr>
          <a:xfrm>
            <a:off x="6987421" y="5162788"/>
            <a:ext cx="655558" cy="655558"/>
          </a:xfrm>
          <a:prstGeom prst="roundRect">
            <a:avLst>
              <a:gd name="adj" fmla="val 16801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1251" y="5326618"/>
            <a:ext cx="327779" cy="3277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D381D5-ECC1-E577-95DE-2AF8370F7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1182" y="7403340"/>
            <a:ext cx="2219218" cy="821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905470"/>
            <a:ext cx="6912054" cy="483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Макрос 1: Создание учётных записей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6073" y="1442561"/>
            <a:ext cx="3091696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Как это работает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7008" y="2031921"/>
            <a:ext cx="5733098" cy="5292090"/>
          </a:xfrm>
          <a:prstGeom prst="roundRect">
            <a:avLst>
              <a:gd name="adj" fmla="val 2629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20128" y="2167176"/>
            <a:ext cx="3097054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Входные данные (Excel / CSV / XML)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20128" y="2560796"/>
            <a:ext cx="5346859" cy="1335762"/>
          </a:xfrm>
          <a:prstGeom prst="roundRect">
            <a:avLst>
              <a:gd name="adj" fmla="val 60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Shape 5"/>
          <p:cNvSpPr/>
          <p:nvPr/>
        </p:nvSpPr>
        <p:spPr>
          <a:xfrm>
            <a:off x="1027748" y="2568416"/>
            <a:ext cx="5331619" cy="4401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1220986" y="2657118"/>
            <a:ext cx="1102757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Фамилия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17602" y="2657118"/>
            <a:ext cx="67246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Имя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83925" y="2657118"/>
            <a:ext cx="1098947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Отчество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76731" y="2657118"/>
            <a:ext cx="88951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Логин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27748" y="3008590"/>
            <a:ext cx="5331619" cy="4401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/>
          <p:nvPr/>
        </p:nvSpPr>
        <p:spPr>
          <a:xfrm>
            <a:off x="1220986" y="3097292"/>
            <a:ext cx="1102757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Иванов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17602" y="3097292"/>
            <a:ext cx="67246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Пётр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83925" y="3097292"/>
            <a:ext cx="1098947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Сергеевич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76731" y="3097292"/>
            <a:ext cx="88951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ivanov.ps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27748" y="3448764"/>
            <a:ext cx="5331619" cy="4401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/>
          <p:nvPr/>
        </p:nvSpPr>
        <p:spPr>
          <a:xfrm>
            <a:off x="1220986" y="3537466"/>
            <a:ext cx="1102757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Петрова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17602" y="3537466"/>
            <a:ext cx="67246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Анна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83925" y="3537466"/>
            <a:ext cx="1098947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Ивановна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76731" y="3537466"/>
            <a:ext cx="88951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petrova.ai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0128" y="4048720"/>
            <a:ext cx="5346859" cy="788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Файл формируется один раз деканатом или преподавателем и используется как единственный источник данных.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9910" y="2167176"/>
            <a:ext cx="2021919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Процесс выполнения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99910" y="2560796"/>
            <a:ext cx="434697" cy="434697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5" name="Text 23"/>
          <p:cNvSpPr/>
          <p:nvPr/>
        </p:nvSpPr>
        <p:spPr>
          <a:xfrm>
            <a:off x="7001292" y="2633186"/>
            <a:ext cx="231815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69862" y="2627114"/>
            <a:ext cx="2334339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Чтение данных из файла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69862" y="3003828"/>
            <a:ext cx="620196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Поддерживаются форматы Excel, CSV и XML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99910" y="3537109"/>
            <a:ext cx="434697" cy="434697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9" name="Text 27"/>
          <p:cNvSpPr/>
          <p:nvPr/>
        </p:nvSpPr>
        <p:spPr>
          <a:xfrm>
            <a:off x="7001292" y="3609499"/>
            <a:ext cx="231815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69862" y="3603427"/>
            <a:ext cx="2617589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Создание группы студентов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69862" y="3980140"/>
            <a:ext cx="620196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Автоматическое формирование структуры в T-FLEX DOCs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99910" y="4513421"/>
            <a:ext cx="434697" cy="434697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3" name="Text 31"/>
          <p:cNvSpPr/>
          <p:nvPr/>
        </p:nvSpPr>
        <p:spPr>
          <a:xfrm>
            <a:off x="7001292" y="4585811"/>
            <a:ext cx="231815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69862" y="4579739"/>
            <a:ext cx="2948940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Генерация 5-значных PIN-кодов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69862" y="4956453"/>
            <a:ext cx="620196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ru-RU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</a:t>
            </a:r>
            <a:r>
              <a:rPr lang="en-US" sz="15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ароли</a:t>
            </a: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для каждого пользователя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899910" y="5489734"/>
            <a:ext cx="434697" cy="434697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7" name="Text 35"/>
          <p:cNvSpPr/>
          <p:nvPr/>
        </p:nvSpPr>
        <p:spPr>
          <a:xfrm>
            <a:off x="7001292" y="5562124"/>
            <a:ext cx="231815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69862" y="5556052"/>
            <a:ext cx="3496032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Создание или обновление аккаунтов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69862" y="5932765"/>
            <a:ext cx="620196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Идемпотентная операция — повторный запуск безопасен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99910" y="6466046"/>
            <a:ext cx="434697" cy="434697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41" name="Text 39"/>
          <p:cNvSpPr/>
          <p:nvPr/>
        </p:nvSpPr>
        <p:spPr>
          <a:xfrm>
            <a:off x="7001292" y="6538436"/>
            <a:ext cx="231815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469862" y="6532364"/>
            <a:ext cx="3025140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Запись паролей обратно в файл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469862" y="6909078"/>
            <a:ext cx="620196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Преподаватель получает готовый список для выдачи студентам</a:t>
            </a:r>
            <a:endParaRPr lang="en-US" sz="15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3FAEB6F-F983-5CD9-C8D1-D59EB5CAE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0" y="7340600"/>
            <a:ext cx="24003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914519"/>
            <a:ext cx="5975747" cy="44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Макрос 2: Распределение заданий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6073" y="1409581"/>
            <a:ext cx="5309711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Структура системы до и после запуска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66073" y="2059781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До запуска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6073" y="2415183"/>
            <a:ext cx="6130290" cy="3347680"/>
          </a:xfrm>
          <a:prstGeom prst="roundRect">
            <a:avLst>
              <a:gd name="adj" fmla="val 2251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Shape 4"/>
          <p:cNvSpPr/>
          <p:nvPr/>
        </p:nvSpPr>
        <p:spPr>
          <a:xfrm>
            <a:off x="957143" y="2415183"/>
            <a:ext cx="6148149" cy="3347680"/>
          </a:xfrm>
          <a:prstGeom prst="roundRect">
            <a:avLst>
              <a:gd name="adj" fmla="val 804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1136571" y="2549723"/>
            <a:ext cx="5789295" cy="307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Файлы/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Задания/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Работа 1/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вариант1.pdf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вариант2.pdf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вариант3.pdf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Работа 2/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вариант1.grb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вариант2.grb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r>
              <a:rPr lang="en-US" sz="1400" dirty="0" err="1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Студенты</a:t>
            </a: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1657" y="2059781"/>
            <a:ext cx="179427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После запуска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41657" y="2415183"/>
            <a:ext cx="6130290" cy="4768572"/>
          </a:xfrm>
          <a:prstGeom prst="roundRect">
            <a:avLst>
              <a:gd name="adj" fmla="val 1580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7532727" y="2415183"/>
            <a:ext cx="6148149" cy="4768572"/>
          </a:xfrm>
          <a:prstGeom prst="roundRect">
            <a:avLst>
              <a:gd name="adj" fmla="val 564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7712154" y="2549723"/>
            <a:ext cx="5789295" cy="4499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Файлы/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Задания/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Работа 1/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вариант1.pdf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вариант2.pdf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вариант3.pdf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Работа 2/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вариант1.grb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вариант2.grb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└──Студенты/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 ИВТ-101/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Иванов П.С./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└── Задания/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├── Работа 1.pdf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└── Работа 2.pdf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 Петрова А.И./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└── Задания/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├── Работа 1.pdf</a:t>
            </a:r>
            <a:endParaRPr lang="en-US" sz="14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└── Работа 2.pdf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475D7F-01ED-00B9-5BD7-82A9CCFB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0" y="7340600"/>
            <a:ext cx="24003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104424"/>
            <a:ext cx="4140637" cy="517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CAD-интеграция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966073" y="1684020"/>
            <a:ext cx="5666780" cy="4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Автоматический экспорт чертежей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7007" y="2330887"/>
            <a:ext cx="5074325" cy="4794290"/>
          </a:xfrm>
          <a:prstGeom prst="roundRect">
            <a:avLst>
              <a:gd name="adj" fmla="val 3109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23938" y="2486144"/>
            <a:ext cx="2070259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Зачем это нужно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3938" y="2900124"/>
            <a:ext cx="4660463" cy="144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Студенты могут не иметь установленного T-FLEX CAD на своих устройствах. Форматы PDF и TIFF открываются в любой программе без дополнительного ПО — это обеспечивает универсальный доступ к материалам.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54948" y="2486144"/>
            <a:ext cx="2070259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Процесс экспорта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4948" y="2919532"/>
            <a:ext cx="465773" cy="465773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363653" y="2997160"/>
            <a:ext cx="24836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75978" y="2990612"/>
            <a:ext cx="2559963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Обнаружение .grb файлов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75978" y="3404592"/>
            <a:ext cx="6795849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Автоматический поиск CAD-документов в директории заданий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4948" y="4004905"/>
            <a:ext cx="465773" cy="465773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/>
          <p:nvPr/>
        </p:nvSpPr>
        <p:spPr>
          <a:xfrm>
            <a:off x="6363653" y="4082534"/>
            <a:ext cx="24836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875978" y="4075986"/>
            <a:ext cx="2524720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Подключение к T-FLEX CAD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75978" y="4489966"/>
            <a:ext cx="6795849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Программный вызов через API без участия пользователя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4948" y="5090279"/>
            <a:ext cx="465773" cy="465773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/>
          <p:nvPr/>
        </p:nvSpPr>
        <p:spPr>
          <a:xfrm>
            <a:off x="6363653" y="5167908"/>
            <a:ext cx="24836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75978" y="5161359"/>
            <a:ext cx="2080141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Экспорт в PDF или TIFF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5978" y="5575340"/>
            <a:ext cx="6795849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Конвертация в выбранный формат с сохранением качества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4948" y="6175653"/>
            <a:ext cx="465773" cy="465773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/>
          <p:nvPr/>
        </p:nvSpPr>
        <p:spPr>
          <a:xfrm>
            <a:off x="6363653" y="6253282"/>
            <a:ext cx="24836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875978" y="6246733"/>
            <a:ext cx="2599492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Загрузка в папку студента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75978" y="6660713"/>
            <a:ext cx="6795849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Готовый файл автоматически помещается в нужную директорию</a:t>
            </a:r>
            <a:endParaRPr lang="en-U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87BA4AB-CF4F-9F36-4659-35CF50D7A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0" y="7340600"/>
            <a:ext cx="24003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2831544"/>
            <a:ext cx="5975033" cy="69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Спасибо за внимание!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966073" y="4073604"/>
            <a:ext cx="12698254" cy="132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Если у вас остались вопросы по функциональности макросов, процессу внедрения или адаптации решения под конкретные требования вашей кафедры — готовы ответить и помочь с настройкой.</a:t>
            </a:r>
            <a:endParaRPr lang="en-US" sz="21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12F9A-DC3F-4487-275F-44D5D7336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0" y="7340600"/>
            <a:ext cx="2400300" cy="88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618</Words>
  <Application>Microsoft Office PowerPoint</Application>
  <PresentationFormat>Произвольный</PresentationFormat>
  <Paragraphs>125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Consolas</vt:lpstr>
      <vt:lpstr>Arial</vt:lpstr>
      <vt:lpstr>Patrick Hand</vt:lpstr>
      <vt:lpstr>Aptos</vt:lpstr>
      <vt:lpstr>Calibri</vt:lpstr>
      <vt:lpstr>Fira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ANTON DOTSENKO</cp:lastModifiedBy>
  <cp:revision>5</cp:revision>
  <dcterms:created xsi:type="dcterms:W3CDTF">2026-03-07T19:02:15Z</dcterms:created>
  <dcterms:modified xsi:type="dcterms:W3CDTF">2026-03-08T06:32:45Z</dcterms:modified>
</cp:coreProperties>
</file>